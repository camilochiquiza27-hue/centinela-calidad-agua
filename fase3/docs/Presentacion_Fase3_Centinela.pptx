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Fase 3: no se construye un modelo nuevo, se industrializa el que ya existe. El rol pasa de cientifico de datos a ingeniero de MLOps.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gancho. La historia de la fase es una auditoria propia que invalido nuestras propias cifras antes de entregarlas.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Insistir: el 60 % de la rubrica evalua MEDIR el antes y el despues, no que algo funcione.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que tf.data es mas rapido: cachea la imagen decodificada; PyTorch vuelve a decodificar el JPEG cada epoca.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ahorro de VRAM no llega al 50 % porque AMP mantiene pesos maestros en FP32; el ahorro esta en las activaciones. Checkpoints guardan tambien el optimizador.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probable: como lo detectaron. Respuesta: el modelo daba 100 % y el IC era [100,100]. Un intervalo degenerado es un sintoma, no un logro.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leccion de la Fase 2 aplicada: la comprobacion que revela el problema debe quedar visible en el cuaderno, no borrarse.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informe original decia que "los metadatos compensan el ahorro". Era falso. La razon real es que no se cuantizaba 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Verificacion sobre logits, no softmax: softmax comprime diferencias y vuelve la prueba mas permisiva. Y sobre imagenes reales, no solo un tensor sintetico.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criterio que mas vale (20 %) y no es codigo: es argumentacion de ingenieria.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Enlazar con la Fase 2: pos_weight para penalizar mas los falsos negativos.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Anticiparse a la critica: el profesor penalizo en Fase 2 el ROC-AUC 0,9997 sobre 78 imagenes. Aqui lo declaramos nosotros antes de que lo pregunte.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Si hay una sola frase que deban recordar, es 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874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PROYECTO CENTINELA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Fase 3 — Del cuaderno al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70332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B8CDDC"/>
                </a:solidFill>
                <a:latin typeface="Calibri"/>
              </a:rPr>
              <a:t>Industrialización del sistema de alerta temprana:</a:t>
            </a:r>
          </a:p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B8CDDC"/>
                </a:solidFill>
                <a:latin typeface="Calibri"/>
              </a:rPr>
              <a:t>pipeline, GPU y despliegue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66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Camilo Chiquiza  ·  Brian Lerma  ·  Luz Villarraga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595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FA8BA"/>
                </a:solidFill>
                <a:latin typeface="Calibri"/>
              </a:rPr>
              <a:t>Universidad Santo Tomás  ·  Maestría en Ciencia de Datos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2C39A"/>
                </a:solidFill>
                <a:latin typeface="Calibri"/>
              </a:rPr>
              <a:t>EL HALLAZGO DE ESTA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«Nuestro modelo acertaba</a:t>
            </a:r>
          </a:p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el 100 % de las veces.</a:t>
            </a:r>
          </a:p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Ese era el problema.»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B8CDDC"/>
                </a:solidFill>
                <a:latin typeface="Calibri"/>
              </a:rPr>
              <a:t>Las 512 fotografías resultaron ser 145 escenas independientes. Descubrirlo cambió todas las métricas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El encargo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De la Fase 2 a la Fase 3: mismo problema, otro 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12080" cy="3566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ESCENARIO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Junta Administradora de Acueducto Rural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Detectar contaminación del agua sin laboratorio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Conectividad intermitente en campo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El modelo debe correr en una tablet, sin GPU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212080" cy="35661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2240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QUÉ CAMBIA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Fase 1 — ¿el modelo aprende?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Fase 2 — ¿la arquitectura es la adecuada?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5A6672"/>
                </a:solidFill>
                <a:latin typeface="Calibri"/>
              </a:rPr>
              <a:t>Fase 3 — ¿esto sale del cuaderno?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/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5A6672"/>
                </a:solidFill>
                <a:latin typeface="Calibri"/>
              </a:rPr>
              <a:t>No se cambia el problema ni los datos:
se industrializa lo ya construido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65A82"/>
                </a:solidFill>
                <a:latin typeface="Calibri"/>
              </a:rPr>
              <a:t>Regla del curso: «si no corre en Colab, no existe; y si no se puede desplegar, no sirve»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Pipeline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El mismo pipeline en tf.data y DataLoader, con el mismo trabajo</a:t>
            </a:r>
          </a:p>
        </p:txBody>
      </p:sp>
      <p:pic>
        <p:nvPicPr>
          <p:cNvPr id="5" name="Picture 4" descr="comparativa_pip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8580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63840" y="1828800"/>
            <a:ext cx="3657600" cy="18288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83879" y="2057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PyTorch DataLoader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4688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942"/>
                </a:solidFill>
                <a:latin typeface="Cambria"/>
              </a:rPr>
              <a:t>1259.4 → 1091.8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0632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mejora 13.3 %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657600" cy="18288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83879" y="4069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tf.data (época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480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2942"/>
                </a:solidFill>
                <a:latin typeface="Cambria"/>
              </a:rPr>
              <a:t>423.3 → 216.7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0749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C39A"/>
                </a:solidFill>
                <a:latin typeface="Calibri"/>
              </a:rPr>
              <a:t>mejora 48.8 %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Dos decisiones de medición: el cache solo cuenta desde la 2ª época, y el cache va ANTES del aumento — si va después, congela las transformaciones aleatorias.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Entrenamiento en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Precisión mixta FP16 — medida, no estimada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065A82"/>
                </a:solidFill>
                <a:latin typeface="Cambria"/>
              </a:rPr>
              <a:t>1136 → 798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163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VRAM pico (MB)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10312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−29.7 %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8163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Ahorro de memoria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10312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0392B"/>
                </a:solidFill>
                <a:latin typeface="Cambria"/>
              </a:rPr>
              <a:t>0.99×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81635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Aceleración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332720" cy="19659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¿Por qué FP16 no aceleró nada?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El pipeline tarda ~1,1 s por lote aplicando el aumento en CPU; la GPU resuelve su parte en milisegundos y pasa el resto del tiempo esperando datos. Es GPU starvation: los Tensor Cores no pueden acelerar un entrenamiento cuyo cuello de botella está en la CPU.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49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2942"/>
                </a:solidFill>
                <a:latin typeface="Calibri"/>
              </a:rPr>
              <a:t>Conclusión de ingeniería: en este sistema, invertir en el pipeline rinde más que en precisión mixta.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50292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 auditoría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21615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8FA8BA"/>
                </a:solidFill>
                <a:latin typeface="Calibri"/>
              </a:rPr>
              <a:t>Cómo descubrimos que nuestras cifras no medían 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La pista estaba en los nombres de archivo: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10515600" cy="914400"/>
          </a:xfrm>
          <a:prstGeom prst="roundRect">
            <a:avLst/>
          </a:prstGeom>
          <a:solidFill>
            <a:srgbClr val="143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43000" y="269748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2C39A"/>
                </a:solidFill>
                <a:latin typeface="Courier New"/>
              </a:rPr>
              <a:t>20230802_132524   ·   20230802_132821   ·   20230802_132822   ·   20230802_132847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B8CDDC"/>
                </a:solidFill>
                <a:latin typeface="Calibri"/>
              </a:rPr>
              <a:t>Fotografías en ráfaga de la misma escena, tomadas con segundos de diferencia. El muestreo aleatorio enviaba la foto de las 13:25:24 a entrenamiento y la de las 13:25:25 a prueba.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22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fotografías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709160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145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4223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escenas independientes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709160"/>
            <a:ext cx="3566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3,5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422392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fotos por escena (promedio)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La fuga, medida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Mismo modelo, mismos hiperparámetros. Solo cambia la partición</a:t>
            </a:r>
          </a:p>
        </p:txBody>
      </p:sp>
      <p:pic>
        <p:nvPicPr>
          <p:cNvPr id="5" name="Picture 4" descr="fuga_por_esce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20240"/>
            <a:ext cx="5120640" cy="2926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2057400"/>
            <a:ext cx="4663440" cy="1234440"/>
          </a:xfrm>
          <a:prstGeom prst="roundRect">
            <a:avLst/>
          </a:prstGeom>
          <a:solidFill>
            <a:srgbClr val="FB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78040" y="2286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Split aleatorio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6517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100.0 %  ·  con fuga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429000"/>
            <a:ext cx="4663440" cy="1234440"/>
          </a:xfrm>
          <a:prstGeom prst="roundRect">
            <a:avLst/>
          </a:prstGeom>
          <a:solidFill>
            <a:srgbClr val="E8F8F3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36576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8B6E"/>
                </a:solidFill>
                <a:latin typeface="Calibri"/>
              </a:rPr>
              <a:t>Split por escena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02336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91.7 %  ·  honesto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800600"/>
            <a:ext cx="4663440" cy="105156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78040" y="5029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2C39A"/>
                </a:solidFill>
                <a:latin typeface="Cambria"/>
              </a:rPr>
              <a:t>BRECHA: 8.3 puntos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541324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 era generalización: era memoria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08076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1">
                <a:solidFill>
                  <a:srgbClr val="065A82"/>
                </a:solidFill>
                <a:latin typeface="Calibri"/>
              </a:rPr>
              <a:t>Se añadió un assert que verifica que ninguna ráfaga cruce entre conjuntos — y su salida se conserva.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Optimización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Dos técnicas de cuantización, y por qué una no servía</a:t>
            </a:r>
          </a:p>
        </p:txBody>
      </p:sp>
      <p:pic>
        <p:nvPicPr>
          <p:cNvPr id="5" name="Picture 4" descr="optimizacion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6766560" cy="20820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874519"/>
            <a:ext cx="3749039" cy="173736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92440" y="2103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INT8 dinámico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248716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44.8 MB — sin cambio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solo alcanza 0.014 % del modelo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749039"/>
            <a:ext cx="3749039" cy="2011680"/>
          </a:xfrm>
          <a:prstGeom prst="roundRect">
            <a:avLst/>
          </a:prstGeom>
          <a:solidFill>
            <a:srgbClr val="E8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92440" y="397763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8B6E"/>
                </a:solidFill>
                <a:latin typeface="Calibri"/>
              </a:rPr>
              <a:t>INT8 estático (PTQ)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3891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44.8 → 11.3 MB   (−74,8 %)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53.7 → 43.6 ms   (−18,8 %)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accuracy sin cambio: 83.3 %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ResNet-18 tiene UNA capa Linear (1.539 de 11,2 M parámetros). La cuantización dinámica no toca las convoluciones: por eso no reducía nada.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Exportación y verificación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Un modelo que predice distinto tras exportarse no es desplegable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37560" cy="22860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65A82"/>
                </a:solidFill>
                <a:latin typeface="Cambria"/>
              </a:rPr>
              <a:t>.pth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Inferencia y re-entrenamiento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en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49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Carga verificada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057400"/>
            <a:ext cx="3337560" cy="22860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006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65A82"/>
                </a:solidFill>
                <a:latin typeface="Cambria"/>
              </a:rPr>
              <a:t>.onnx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8346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Puente portable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entre plataformas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749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dif. máx 6.30e-07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57400"/>
            <a:ext cx="3337560" cy="228600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58200" y="22860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65A82"/>
                </a:solidFill>
                <a:latin typeface="Cambria"/>
              </a:rPr>
              <a:t>.keras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8346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Punto de partida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para LiteRT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7490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2C39A"/>
                </a:solidFill>
                <a:latin typeface="Calibri"/>
              </a:rPr>
              <a:t>accuracy 75.0 %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17720"/>
            <a:ext cx="10652760" cy="1417320"/>
          </a:xfrm>
          <a:prstGeom prst="roundRect">
            <a:avLst/>
          </a:prstGeom>
          <a:solidFill>
            <a:srgbClr val="0B2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2C39A"/>
                </a:solidFill>
                <a:latin typeface="Calibri"/>
              </a:rPr>
              <a:t>Auditoría: la ruta que creíamos usar no era la que usábamos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285232"/>
            <a:ext cx="9966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B8CDDC"/>
                </a:solidFill>
                <a:latin typeface="Calibri"/>
              </a:rPr>
              <a:t>La bitácora afirmaba haber rechazado dynamo=True. El log decía torch.export.export — que ES dynamo. En PyTorch 2.11 es el predeterminado: hay que pedir dynamo=False explícitamente.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Ruta de despliegue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Arquitectura dual según la conectividad disponible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3017520"/>
          </a:xfrm>
          <a:prstGeom prst="roundRect">
            <a:avLst/>
          </a:prstGeom>
          <a:solidFill>
            <a:srgbClr val="E8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18B6E"/>
                </a:solidFill>
                <a:latin typeface="Calibri"/>
              </a:rPr>
              <a:t>RAMA VISUAL —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ResNet-18 INT8 → LiteRT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11.3 MB · 43.6 ms por imagen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Tablet Android en campo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Foto del río → Limpia / Turbia /
Contaminada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A6672"/>
                </a:solidFill>
                <a:latin typeface="Calibri"/>
              </a:rPr>
              <a:t>Funciona sin 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965960"/>
            <a:ext cx="5120640" cy="301752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0840" y="2194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65A82"/>
                </a:solidFill>
                <a:latin typeface="Calibri"/>
              </a:rPr>
              <a:t>RAMA TEMPORAL — nube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6517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GRU (Fase 2) → ONNX Runtime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API REST en servidor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14 días de pH → riesgo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/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5A6672"/>
                </a:solidFill>
                <a:latin typeface="Calibri"/>
              </a:rPr>
              <a:t>Los operadores de redes recurrentes
no son confiables en LiteRT: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5A6672"/>
                </a:solidFill>
                <a:latin typeface="Calibri"/>
              </a:rPr>
              <a:t>servirla en la nube es la decisión
correcta de MLOps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166360"/>
            <a:ext cx="10652760" cy="9144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966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8A6300"/>
                </a:solidFill>
                <a:latin typeface="Calibri"/>
              </a:rPr>
              <a:t>Las dos señales se presentan al operador por separado. La fusión de la Fase 2 no está validada —la clave de alineación quedó constante— y no se despliega como modelo único hasta rehacer la ablación.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Despliegue responsable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Los costos del error no son simétricos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20640" cy="1600200"/>
          </a:xfrm>
          <a:prstGeom prst="round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240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A6300"/>
                </a:solidFill>
                <a:latin typeface="Calibri"/>
              </a:rPr>
              <a:t>Falso positivo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Alarma incorrecta → monitoreo adicional.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Costo bajo, efecto conservador.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011680"/>
            <a:ext cx="5120640" cy="1600200"/>
          </a:xfrm>
          <a:prstGeom prst="roundRect">
            <a:avLst/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0840" y="22402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Falso negativo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651760"/>
            <a:ext cx="4389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No detectar riesgo real → salud de la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comunidad comprometida. Costo ALTO.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2942"/>
                </a:solidFill>
                <a:latin typeface="Calibri"/>
              </a:rPr>
              <a:t>Por esa asimetría: umbrales conservadores y prioridad al recall sobre la precisión.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26280"/>
            <a:ext cx="5120640" cy="15544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65A82"/>
                </a:solidFill>
                <a:latin typeface="Calibri"/>
              </a:rPr>
              <a:t>Transparencia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3892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La JAAR sabe que el sistema usa IA entrenada con 512 fotos de 145 escenas, y que sus predicciones son orientativas.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526280"/>
            <a:ext cx="5120640" cy="155448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20840" y="47548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65A82"/>
                </a:solidFill>
                <a:latin typeface="Calibri"/>
              </a:rPr>
              <a:t>Beneficio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138928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672"/>
                </a:solidFill>
                <a:latin typeface="Calibri"/>
              </a:rPr>
              <a:t>Detección sin laboratorio ni conectividad permanente: de días a segundos. Complementa al operador, no lo reemplaza.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02C39A"/>
                </a:solidFill>
                <a:latin typeface="Cambria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4572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2942"/>
                </a:solidFill>
                <a:latin typeface="Cambria"/>
              </a:rPr>
              <a:t>Lo que no podemos afirmar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7632" y="117043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5A6672"/>
                </a:solidFill>
                <a:latin typeface="Calibri"/>
              </a:rPr>
              <a:t>La limitación, declarada de frente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i="0">
                <a:solidFill>
                  <a:srgbClr val="065A82"/>
                </a:solidFill>
                <a:latin typeface="Cambria"/>
              </a:rPr>
              <a:t>83.3 %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706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Accuracy en test (por escena)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057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0392B"/>
                </a:solidFill>
                <a:latin typeface="Cambria"/>
              </a:rPr>
              <a:t>n = 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7706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solo 13 escenas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5740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C0392B"/>
                </a:solidFill>
                <a:latin typeface="Cambria"/>
              </a:rPr>
              <a:t>[66.7 - 95.8]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77063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A6672"/>
                </a:solidFill>
                <a:latin typeface="Calibri"/>
              </a:rPr>
              <a:t>IC 95 % — casi 30 puntos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03320"/>
            <a:ext cx="10607040" cy="2194560"/>
          </a:xfrm>
          <a:prstGeom prst="roundRect">
            <a:avLst/>
          </a:prstGeom>
          <a:solidFill>
            <a:srgbClr val="F2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65A82"/>
                </a:solidFill>
                <a:latin typeface="Calibri"/>
              </a:rPr>
              <a:t>Por qué el conjunto de prueba quedó tan pequeño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370832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672"/>
                </a:solidFill>
                <a:latin typeface="Calibri"/>
              </a:rPr>
              <a:t>El agrupamiento por ráfagas produce grupos muy desiguales — el mayor reúne 128 fotografías — y StratifiedGroupKFold no puede equilibrar tamaño y proporción de clases a la vez. El 83.3 % corresponde a 20 aciertos sobre 24 casos.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230368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2942"/>
                </a:solidFill>
                <a:latin typeface="Calibri"/>
              </a:rPr>
              <a:t>Por eso NO reportamos ROC-AUC con decimales: sobre 24 observaciones sería falsa precisión. Siguiente paso: validación cruzada de 5 pliegues por grupo.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Lo que nos llevamos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566928" cy="566928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32688" y="17190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18488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Un pipeline que mide lo que dice medir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8FA8BA"/>
                </a:solidFill>
                <a:latin typeface="Calibri"/>
              </a:rPr>
              <a:t>Mismo trabajo en ambos frameworks, cache antes del aumento, comparación en 2ª época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15768"/>
            <a:ext cx="566928" cy="566928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834639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734056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Cifras medidas, no estimadas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127248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8FA8BA"/>
                </a:solidFill>
                <a:latin typeface="Calibri"/>
              </a:rPr>
              <a:t>FP32 vs FP16 entrenado de verdad; el 0,99× se explica, no se maquilla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31335"/>
            <a:ext cx="566928" cy="566928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950207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849623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Un modelo desplegable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4281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8FA8BA"/>
                </a:solidFill>
                <a:latin typeface="Calibri"/>
              </a:rPr>
              <a:t>11.3 MB y 43.6 ms en CPU, exportado en 3 formatos y verificado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946904"/>
            <a:ext cx="566928" cy="566928"/>
          </a:xfrm>
          <a:prstGeom prst="round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50657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B2942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Cuatro auditorías sobre código propio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35838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8FA8BA"/>
                </a:solidFill>
                <a:latin typeface="Calibri"/>
              </a:rPr>
              <a:t>La fuga por escenas invalidó nuestras propias cifras antes de entregarlas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02C39A"/>
                </a:solidFill>
                <a:latin typeface="Calibri"/>
              </a:rPr>
              <a:t>«La señal de alarma más útil no es el error que interrumpe la ejecución, sino el resultado que sale demasiado bien.»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